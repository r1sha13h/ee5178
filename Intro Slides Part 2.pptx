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AUTOLAYOUT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-29" y="0"/>
            <a:ext cx="9144000" cy="1741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/>
          <p:nvPr/>
        </p:nvSpPr>
        <p:spPr>
          <a:xfrm rot="-5400000">
            <a:off x="7406225" y="300"/>
            <a:ext cx="1738200" cy="1737300"/>
          </a:xfrm>
          <a:prstGeom prst="rtTriangle">
            <a:avLst/>
          </a:prstGeom>
          <a:solidFill>
            <a:srgbClr val="FFFFFF">
              <a:alpha val="43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24475" y="148225"/>
            <a:ext cx="5244900" cy="13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1800"/>
              <a:buChar char="●"/>
              <a:defRPr sz="1800">
                <a:solidFill>
                  <a:srgbClr val="61616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○"/>
              <a:defRPr sz="1400">
                <a:solidFill>
                  <a:srgbClr val="61616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■"/>
              <a:defRPr sz="1400">
                <a:solidFill>
                  <a:srgbClr val="61616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●"/>
              <a:defRPr sz="1400">
                <a:solidFill>
                  <a:srgbClr val="61616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○"/>
              <a:defRPr sz="1400">
                <a:solidFill>
                  <a:srgbClr val="61616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■"/>
              <a:defRPr sz="1400">
                <a:solidFill>
                  <a:srgbClr val="61616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●"/>
              <a:defRPr sz="1400">
                <a:solidFill>
                  <a:srgbClr val="61616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400"/>
              <a:buChar char="○"/>
              <a:defRPr sz="1400">
                <a:solidFill>
                  <a:srgbClr val="61616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16161"/>
              </a:buClr>
              <a:buSzPts val="1400"/>
              <a:buChar char="■"/>
              <a:defRPr sz="1400"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51c1a4b42245d33b">
  <p:cSld name="BLANK_51c1a4b42245d33b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71" name="Google Shape;27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Structure From Motion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272" name="Google Shape;27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30400" cy="3810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5200" y="1170125"/>
            <a:ext cx="4556400" cy="349324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0"/>
          <p:cNvSpPr txBox="1"/>
          <p:nvPr/>
        </p:nvSpPr>
        <p:spPr>
          <a:xfrm>
            <a:off x="5834450" y="4748050"/>
            <a:ext cx="24846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Dr. Calle Olsson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79" name="Google Shape;279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2"/>
                </a:solidFill>
              </a:rPr>
              <a:t>Photometric stereo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81" name="Google Shape;28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4404800" cy="3429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51"/>
          <p:cNvSpPr txBox="1">
            <a:spLocks noGrp="1"/>
          </p:cNvSpPr>
          <p:nvPr>
            <p:ph type="body" idx="1"/>
          </p:nvPr>
        </p:nvSpPr>
        <p:spPr>
          <a:xfrm>
            <a:off x="0" y="4131150"/>
            <a:ext cx="2152500" cy="3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Courtesy Wikipedia</a:t>
            </a:r>
            <a:endParaRPr/>
          </a:p>
        </p:txBody>
      </p:sp>
      <p:pic>
        <p:nvPicPr>
          <p:cNvPr id="283" name="Google Shape;28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2025" y="1195350"/>
            <a:ext cx="457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1"/>
          <p:cNvSpPr txBox="1"/>
          <p:nvPr/>
        </p:nvSpPr>
        <p:spPr>
          <a:xfrm>
            <a:off x="4647450" y="4697750"/>
            <a:ext cx="41847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" Near-Light Photometric Stereo using Circularly Placed Point Light Sources 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89" name="Google Shape;289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light</a:t>
            </a:r>
            <a:endParaRPr/>
          </a:p>
        </p:txBody>
      </p:sp>
      <p:sp>
        <p:nvSpPr>
          <p:cNvPr id="290" name="Google Shape;290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91" name="Google Shape;29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" y="1406113"/>
            <a:ext cx="44577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52"/>
          <p:cNvSpPr txBox="1"/>
          <p:nvPr/>
        </p:nvSpPr>
        <p:spPr>
          <a:xfrm>
            <a:off x="77100" y="1034925"/>
            <a:ext cx="4235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Stereo, but replace one camera with Projector</a:t>
            </a:r>
            <a:endParaRPr/>
          </a:p>
        </p:txBody>
      </p:sp>
      <p:pic>
        <p:nvPicPr>
          <p:cNvPr id="293" name="Google Shape;29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0788" y="2163350"/>
            <a:ext cx="208597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2750" y="537900"/>
            <a:ext cx="238125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2750" y="1977900"/>
            <a:ext cx="238125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62749" y="3458150"/>
            <a:ext cx="238125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2"/>
          <p:cNvSpPr txBox="1"/>
          <p:nvPr/>
        </p:nvSpPr>
        <p:spPr>
          <a:xfrm>
            <a:off x="6144000" y="4394700"/>
            <a:ext cx="30000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“Rapid Shape Acquisition Using Color Structured Light and Multi-pass Dynamic Programming”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10" name="Google Shape;310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2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</a:rPr>
              <a:t>You just saw many examples of current systems.</a:t>
            </a:r>
            <a:endParaRPr sz="36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CC0000"/>
                </a:solidFill>
              </a:rPr>
              <a:t>But what challenges do they face ?</a:t>
            </a:r>
            <a:endParaRPr sz="3600"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15" name="Google Shape;315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17" name="Google Shape;31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22" name="Google Shape;322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24" name="Google Shape;32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29" name="Google Shape;329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31" name="Google Shape;33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36" name="Google Shape;336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38" name="Google Shape;33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45" name="Google Shape;34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50" name="Google Shape;350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52" name="Google Shape;35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57" name="Google Shape;357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59" name="Google Shape;35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64" name="Google Shape;364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66" name="Google Shape;36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661" y="0"/>
            <a:ext cx="6862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71" name="Google Shape;371;p63"/>
          <p:cNvSpPr txBox="1">
            <a:spLocks noGrp="1"/>
          </p:cNvSpPr>
          <p:nvPr>
            <p:ph type="title"/>
          </p:nvPr>
        </p:nvSpPr>
        <p:spPr>
          <a:xfrm>
            <a:off x="311700" y="2121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Course Content</a:t>
            </a:r>
            <a:endParaRPr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76" name="Google Shape;376;p64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review of Deep Learning</a:t>
            </a:r>
            <a:br>
              <a:rPr lang="en"/>
            </a:br>
            <a:endParaRPr sz="1200"/>
          </a:p>
        </p:txBody>
      </p:sp>
      <p:sp>
        <p:nvSpPr>
          <p:cNvPr id="377" name="Google Shape;377;p64"/>
          <p:cNvSpPr txBox="1">
            <a:spLocks noGrp="1"/>
          </p:cNvSpPr>
          <p:nvPr>
            <p:ph type="body" idx="1"/>
          </p:nvPr>
        </p:nvSpPr>
        <p:spPr>
          <a:xfrm>
            <a:off x="311700" y="117145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78" name="Google Shape;37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5" y="560525"/>
            <a:ext cx="4170750" cy="25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9075" y="572700"/>
            <a:ext cx="4917901" cy="2465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64"/>
          <p:cNvPicPr preferRelativeResize="0"/>
          <p:nvPr/>
        </p:nvPicPr>
        <p:blipFill rotWithShape="1">
          <a:blip r:embed="rId5">
            <a:alphaModFix/>
          </a:blip>
          <a:srcRect b="54058"/>
          <a:stretch/>
        </p:blipFill>
        <p:spPr>
          <a:xfrm>
            <a:off x="1286550" y="3355475"/>
            <a:ext cx="5503975" cy="1788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64"/>
          <p:cNvSpPr txBox="1"/>
          <p:nvPr/>
        </p:nvSpPr>
        <p:spPr>
          <a:xfrm>
            <a:off x="900125" y="3017500"/>
            <a:ext cx="288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Basic Neural Network (MLP)</a:t>
            </a:r>
            <a:endParaRPr b="1"/>
          </a:p>
        </p:txBody>
      </p:sp>
      <p:sp>
        <p:nvSpPr>
          <p:cNvPr id="382" name="Google Shape;382;p64"/>
          <p:cNvSpPr txBox="1"/>
          <p:nvPr/>
        </p:nvSpPr>
        <p:spPr>
          <a:xfrm>
            <a:off x="5300900" y="3017500"/>
            <a:ext cx="328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Convolutional Neural Network (CNN)</a:t>
            </a:r>
            <a:endParaRPr b="1"/>
          </a:p>
        </p:txBody>
      </p:sp>
      <p:sp>
        <p:nvSpPr>
          <p:cNvPr id="383" name="Google Shape;383;p64"/>
          <p:cNvSpPr txBox="1"/>
          <p:nvPr/>
        </p:nvSpPr>
        <p:spPr>
          <a:xfrm>
            <a:off x="6843725" y="4084300"/>
            <a:ext cx="288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Recurrent Neural Network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(RNN)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88" name="Google Shape;388;p65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level vision</a:t>
            </a:r>
            <a:endParaRPr/>
          </a:p>
        </p:txBody>
      </p:sp>
      <p:pic>
        <p:nvPicPr>
          <p:cNvPr id="389" name="Google Shape;389;p65"/>
          <p:cNvPicPr preferRelativeResize="0"/>
          <p:nvPr/>
        </p:nvPicPr>
        <p:blipFill rotWithShape="1">
          <a:blip r:embed="rId3">
            <a:alphaModFix/>
          </a:blip>
          <a:srcRect l="66130"/>
          <a:stretch/>
        </p:blipFill>
        <p:spPr>
          <a:xfrm>
            <a:off x="2435571" y="636725"/>
            <a:ext cx="2573741" cy="17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65"/>
          <p:cNvPicPr preferRelativeResize="0"/>
          <p:nvPr/>
        </p:nvPicPr>
        <p:blipFill rotWithShape="1">
          <a:blip r:embed="rId3">
            <a:alphaModFix/>
          </a:blip>
          <a:srcRect r="67160"/>
          <a:stretch/>
        </p:blipFill>
        <p:spPr>
          <a:xfrm>
            <a:off x="-16013" y="636725"/>
            <a:ext cx="2495462" cy="17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65"/>
          <p:cNvSpPr txBox="1"/>
          <p:nvPr/>
        </p:nvSpPr>
        <p:spPr>
          <a:xfrm>
            <a:off x="60175" y="2352100"/>
            <a:ext cx="48798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Edge Extraction</a:t>
            </a:r>
            <a:r>
              <a:rPr lang="en"/>
              <a:t> </a:t>
            </a:r>
            <a:endParaRPr/>
          </a:p>
        </p:txBody>
      </p:sp>
      <p:pic>
        <p:nvPicPr>
          <p:cNvPr id="392" name="Google Shape;39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650" y="2847963"/>
            <a:ext cx="3771900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5"/>
          <p:cNvSpPr txBox="1"/>
          <p:nvPr/>
        </p:nvSpPr>
        <p:spPr>
          <a:xfrm>
            <a:off x="743525" y="4774075"/>
            <a:ext cx="25737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Line Detection</a:t>
            </a:r>
            <a:br>
              <a:rPr lang="en"/>
            </a:br>
            <a:endParaRPr/>
          </a:p>
        </p:txBody>
      </p:sp>
      <p:pic>
        <p:nvPicPr>
          <p:cNvPr id="394" name="Google Shape;394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6200" y="2832750"/>
            <a:ext cx="1838299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65"/>
          <p:cNvSpPr txBox="1"/>
          <p:nvPr/>
        </p:nvSpPr>
        <p:spPr>
          <a:xfrm>
            <a:off x="3923800" y="4732225"/>
            <a:ext cx="25737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Blob detection</a:t>
            </a:r>
            <a:endParaRPr/>
          </a:p>
        </p:txBody>
      </p:sp>
      <p:pic>
        <p:nvPicPr>
          <p:cNvPr id="396" name="Google Shape;396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1375" y="564450"/>
            <a:ext cx="4093700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5"/>
          <p:cNvSpPr txBox="1"/>
          <p:nvPr/>
        </p:nvSpPr>
        <p:spPr>
          <a:xfrm>
            <a:off x="4936975" y="2352100"/>
            <a:ext cx="48798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Feature Extraction</a:t>
            </a:r>
            <a:r>
              <a:rPr lang="en"/>
              <a:t> </a:t>
            </a:r>
            <a:endParaRPr/>
          </a:p>
        </p:txBody>
      </p:sp>
      <p:pic>
        <p:nvPicPr>
          <p:cNvPr id="398" name="Google Shape;398;p65"/>
          <p:cNvPicPr preferRelativeResize="0"/>
          <p:nvPr/>
        </p:nvPicPr>
        <p:blipFill rotWithShape="1">
          <a:blip r:embed="rId7">
            <a:alphaModFix/>
          </a:blip>
          <a:srcRect r="30118"/>
          <a:stretch/>
        </p:blipFill>
        <p:spPr>
          <a:xfrm>
            <a:off x="6070675" y="2832750"/>
            <a:ext cx="2960001" cy="18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5"/>
          <p:cNvSpPr txBox="1"/>
          <p:nvPr/>
        </p:nvSpPr>
        <p:spPr>
          <a:xfrm>
            <a:off x="4936975" y="4714300"/>
            <a:ext cx="48798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Filtering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04" name="Google Shape;404;p66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Geometry</a:t>
            </a:r>
            <a:endParaRPr/>
          </a:p>
        </p:txBody>
      </p:sp>
      <p:pic>
        <p:nvPicPr>
          <p:cNvPr id="405" name="Google Shape;40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750" y="2785625"/>
            <a:ext cx="2584366" cy="201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1700" y="402750"/>
            <a:ext cx="3213050" cy="20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66"/>
          <p:cNvPicPr preferRelativeResize="0"/>
          <p:nvPr/>
        </p:nvPicPr>
        <p:blipFill rotWithShape="1">
          <a:blip r:embed="rId5">
            <a:alphaModFix/>
          </a:blip>
          <a:srcRect t="46441"/>
          <a:stretch/>
        </p:blipFill>
        <p:spPr>
          <a:xfrm>
            <a:off x="0" y="2736300"/>
            <a:ext cx="5802962" cy="23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375" y="627150"/>
            <a:ext cx="5576475" cy="178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66"/>
          <p:cNvSpPr txBox="1"/>
          <p:nvPr/>
        </p:nvSpPr>
        <p:spPr>
          <a:xfrm>
            <a:off x="931225" y="2333000"/>
            <a:ext cx="330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Single view geometry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410" name="Google Shape;410;p66"/>
          <p:cNvSpPr txBox="1"/>
          <p:nvPr/>
        </p:nvSpPr>
        <p:spPr>
          <a:xfrm>
            <a:off x="931225" y="4771400"/>
            <a:ext cx="330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Multi-view geometry</a:t>
            </a:r>
            <a:endParaRPr sz="1600" b="1"/>
          </a:p>
        </p:txBody>
      </p:sp>
      <p:sp>
        <p:nvSpPr>
          <p:cNvPr id="411" name="Google Shape;411;p66"/>
          <p:cNvSpPr txBox="1"/>
          <p:nvPr/>
        </p:nvSpPr>
        <p:spPr>
          <a:xfrm>
            <a:off x="5884225" y="2333000"/>
            <a:ext cx="330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Two-view geometry</a:t>
            </a:r>
            <a:endParaRPr sz="1600" b="1"/>
          </a:p>
        </p:txBody>
      </p:sp>
      <p:sp>
        <p:nvSpPr>
          <p:cNvPr id="412" name="Google Shape;412;p66"/>
          <p:cNvSpPr txBox="1"/>
          <p:nvPr/>
        </p:nvSpPr>
        <p:spPr>
          <a:xfrm>
            <a:off x="6112825" y="4695200"/>
            <a:ext cx="330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Photometric stereo</a:t>
            </a:r>
            <a:endParaRPr sz="16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17" name="Google Shape;417;p67"/>
          <p:cNvSpPr txBox="1"/>
          <p:nvPr/>
        </p:nvSpPr>
        <p:spPr>
          <a:xfrm>
            <a:off x="6339775" y="1682700"/>
            <a:ext cx="2804100" cy="3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67"/>
          <p:cNvSpPr txBox="1"/>
          <p:nvPr/>
        </p:nvSpPr>
        <p:spPr>
          <a:xfrm>
            <a:off x="3323125" y="1785375"/>
            <a:ext cx="2989200" cy="3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67"/>
          <p:cNvSpPr txBox="1"/>
          <p:nvPr/>
        </p:nvSpPr>
        <p:spPr>
          <a:xfrm>
            <a:off x="-10625" y="560525"/>
            <a:ext cx="3306300" cy="44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67"/>
          <p:cNvSpPr txBox="1"/>
          <p:nvPr/>
        </p:nvSpPr>
        <p:spPr>
          <a:xfrm>
            <a:off x="3530375" y="49325"/>
            <a:ext cx="4845600" cy="16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67"/>
          <p:cNvSpPr txBox="1">
            <a:spLocks noGrp="1"/>
          </p:cNvSpPr>
          <p:nvPr>
            <p:ph type="title"/>
          </p:nvPr>
        </p:nvSpPr>
        <p:spPr>
          <a:xfrm>
            <a:off x="235500" y="-12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Mid-level Vision</a:t>
            </a:r>
            <a:endParaRPr/>
          </a:p>
        </p:txBody>
      </p:sp>
      <p:pic>
        <p:nvPicPr>
          <p:cNvPr id="422" name="Google Shape;42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75" y="751875"/>
            <a:ext cx="3153326" cy="10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75" y="1835240"/>
            <a:ext cx="3153326" cy="1115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6300" y="167650"/>
            <a:ext cx="2213325" cy="125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9825" y="161470"/>
            <a:ext cx="2213326" cy="124500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67"/>
          <p:cNvSpPr txBox="1"/>
          <p:nvPr/>
        </p:nvSpPr>
        <p:spPr>
          <a:xfrm>
            <a:off x="16825" y="4524000"/>
            <a:ext cx="33063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Image segmentation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27" name="Google Shape;427;p67"/>
          <p:cNvSpPr txBox="1"/>
          <p:nvPr/>
        </p:nvSpPr>
        <p:spPr>
          <a:xfrm>
            <a:off x="4419600" y="1316538"/>
            <a:ext cx="330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Tracking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28" name="Google Shape;428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77" y="2960787"/>
            <a:ext cx="3153324" cy="1580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08074" y="2838128"/>
            <a:ext cx="2834825" cy="855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09700" y="1980135"/>
            <a:ext cx="2834825" cy="855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6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09700" y="3772325"/>
            <a:ext cx="2831786" cy="85592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67"/>
          <p:cNvSpPr txBox="1"/>
          <p:nvPr/>
        </p:nvSpPr>
        <p:spPr>
          <a:xfrm>
            <a:off x="3113300" y="4552038"/>
            <a:ext cx="330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Optical Flow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33" name="Google Shape;433;p6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16550" y="1674874"/>
            <a:ext cx="2636624" cy="161800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34" name="Google Shape;434;p6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23512" y="3327201"/>
            <a:ext cx="2636624" cy="144189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35" name="Google Shape;435;p67"/>
          <p:cNvSpPr txBox="1"/>
          <p:nvPr/>
        </p:nvSpPr>
        <p:spPr>
          <a:xfrm>
            <a:off x="5932700" y="4704438"/>
            <a:ext cx="330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Image Retrieval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40" name="Google Shape;440;p68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Vision</a:t>
            </a:r>
            <a:endParaRPr/>
          </a:p>
        </p:txBody>
      </p:sp>
      <p:sp>
        <p:nvSpPr>
          <p:cNvPr id="441" name="Google Shape;441;p68"/>
          <p:cNvSpPr txBox="1"/>
          <p:nvPr/>
        </p:nvSpPr>
        <p:spPr>
          <a:xfrm>
            <a:off x="311700" y="707675"/>
            <a:ext cx="3143400" cy="2357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68"/>
          <p:cNvSpPr txBox="1"/>
          <p:nvPr/>
        </p:nvSpPr>
        <p:spPr>
          <a:xfrm>
            <a:off x="702321" y="2719658"/>
            <a:ext cx="25086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Viola Jones Face Detector</a:t>
            </a:r>
            <a:endParaRPr/>
          </a:p>
        </p:txBody>
      </p:sp>
      <p:pic>
        <p:nvPicPr>
          <p:cNvPr id="443" name="Google Shape;44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585" y="803382"/>
            <a:ext cx="2997233" cy="1992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68"/>
          <p:cNvSpPr txBox="1"/>
          <p:nvPr/>
        </p:nvSpPr>
        <p:spPr>
          <a:xfrm>
            <a:off x="3548250" y="688375"/>
            <a:ext cx="4347600" cy="23571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68"/>
          <p:cNvSpPr txBox="1"/>
          <p:nvPr/>
        </p:nvSpPr>
        <p:spPr>
          <a:xfrm>
            <a:off x="3938875" y="2700375"/>
            <a:ext cx="3703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Image Captioning</a:t>
            </a:r>
            <a:endParaRPr/>
          </a:p>
        </p:txBody>
      </p:sp>
      <p:pic>
        <p:nvPicPr>
          <p:cNvPr id="446" name="Google Shape;44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0950" y="803376"/>
            <a:ext cx="4068450" cy="19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375" y="3211925"/>
            <a:ext cx="3143400" cy="1768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7500" y="3197875"/>
            <a:ext cx="4431230" cy="186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53" name="Google Shape;453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Tentative grading policy</a:t>
            </a:r>
            <a:endParaRPr dirty="0"/>
          </a:p>
        </p:txBody>
      </p:sp>
      <p:sp>
        <p:nvSpPr>
          <p:cNvPr id="454" name="Google Shape;454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dirty="0"/>
              <a:t>Regular (MCQ based) mini-quizzes (20%) – most likely 4 miniquiz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GB" dirty="0"/>
              <a:t>Programming assignments (25%)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 dirty="0"/>
              <a:t>Around 3-4 assignments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dirty="0"/>
              <a:t>Kaggle Competition or Term Project (25%)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dirty="0"/>
              <a:t>End semester exam (30%)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59" name="Google Shape;459;p70"/>
          <p:cNvSpPr txBox="1">
            <a:spLocks noGrp="1"/>
          </p:cNvSpPr>
          <p:nvPr>
            <p:ph type="title"/>
          </p:nvPr>
        </p:nvSpPr>
        <p:spPr>
          <a:xfrm>
            <a:off x="324475" y="148225"/>
            <a:ext cx="5244900" cy="137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Reading Material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60" name="Google Shape;460;p70"/>
          <p:cNvSpPr txBox="1">
            <a:spLocks noGrp="1"/>
          </p:cNvSpPr>
          <p:nvPr>
            <p:ph type="body" idx="1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Szeliski, ​Computer Vision: Algorithms and Applications​, ​Springer, 2010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Hartley and Zisserman, ​Multiple View Geometry in Computer Vision​, Cambridge University Press, 2004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Forsyth and Ponce, ​Computer Vision: A Modern Approach​, Prentice Hall, 2002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2" name="Google Shape;472;p72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Course Contents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73" name="Google Shape;473;p72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2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● </a:t>
            </a:r>
            <a:r>
              <a:rPr lang="en" b="1">
                <a:solidFill>
                  <a:schemeClr val="dk2"/>
                </a:solidFill>
              </a:rPr>
              <a:t>Quick review of Deep Learning:</a:t>
            </a:r>
            <a:r>
              <a:rPr lang="en">
                <a:solidFill>
                  <a:schemeClr val="dk2"/>
                </a:solidFill>
              </a:rPr>
              <a:t> Multilayer perceptron (MLP), Convolutional Neural Network (CNN), Recurrent Neural Network (RNN)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● </a:t>
            </a:r>
            <a:r>
              <a:rPr lang="en" b="1">
                <a:solidFill>
                  <a:schemeClr val="dk2"/>
                </a:solidFill>
              </a:rPr>
              <a:t>Low level vision:</a:t>
            </a:r>
            <a:r>
              <a:rPr lang="en">
                <a:solidFill>
                  <a:schemeClr val="dk2"/>
                </a:solidFill>
              </a:rPr>
              <a:t> Edge, line and corner detections; Image filtering; Features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● </a:t>
            </a:r>
            <a:r>
              <a:rPr lang="en" b="1">
                <a:solidFill>
                  <a:schemeClr val="dk2"/>
                </a:solidFill>
              </a:rPr>
              <a:t>Geometry:</a:t>
            </a:r>
            <a:r>
              <a:rPr lang="en">
                <a:solidFill>
                  <a:schemeClr val="dk2"/>
                </a:solidFill>
              </a:rPr>
              <a:t> Single-view geometry; Stereo geometry; Multi-view geometry; Photometric stereo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● </a:t>
            </a:r>
            <a:r>
              <a:rPr lang="en" b="1">
                <a:solidFill>
                  <a:schemeClr val="dk2"/>
                </a:solidFill>
              </a:rPr>
              <a:t>Mid-level vision:</a:t>
            </a:r>
            <a:r>
              <a:rPr lang="en">
                <a:solidFill>
                  <a:schemeClr val="dk2"/>
                </a:solidFill>
              </a:rPr>
              <a:t> Optical flow, Image segmentation; Tracking; CB Image Retrieval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</a:rPr>
              <a:t>● </a:t>
            </a:r>
            <a:r>
              <a:rPr lang="en" b="1">
                <a:solidFill>
                  <a:schemeClr val="dk2"/>
                </a:solidFill>
              </a:rPr>
              <a:t>High-level vision:</a:t>
            </a:r>
            <a:r>
              <a:rPr lang="en">
                <a:solidFill>
                  <a:schemeClr val="dk2"/>
                </a:solidFill>
              </a:rPr>
              <a:t> Viola-Jones detector; Bag of words model; Deformable parts model; Object recognition and detection; Image captioning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