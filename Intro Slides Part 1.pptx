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3">
  <p:cSld name="AUTOLAYOUT_6">
    <p:bg>
      <p:bgPr>
        <a:solidFill>
          <a:srgbClr val="FFFFFF"/>
        </a:solid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14"/>
          <p:cNvSpPr/>
          <p:nvPr/>
        </p:nvSpPr>
        <p:spPr>
          <a:xfrm>
            <a:off x="-29" y="0"/>
            <a:ext cx="9144000" cy="17415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14"/>
          <p:cNvSpPr/>
          <p:nvPr/>
        </p:nvSpPr>
        <p:spPr>
          <a:xfrm rot="-5400000">
            <a:off x="7406225" y="300"/>
            <a:ext cx="1738200" cy="1737300"/>
          </a:xfrm>
          <a:prstGeom prst="rtTriangle">
            <a:avLst/>
          </a:prstGeom>
          <a:solidFill>
            <a:srgbClr val="FFFFFF">
              <a:alpha val="439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title"/>
          </p:nvPr>
        </p:nvSpPr>
        <p:spPr>
          <a:xfrm>
            <a:off x="324475" y="148225"/>
            <a:ext cx="5244900" cy="1373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63" name="Google Shape;63;p14"/>
          <p:cNvSpPr txBox="1">
            <a:spLocks noGrp="1"/>
          </p:cNvSpPr>
          <p:nvPr>
            <p:ph type="body" idx="1"/>
          </p:nvPr>
        </p:nvSpPr>
        <p:spPr>
          <a:xfrm>
            <a:off x="324475" y="1920450"/>
            <a:ext cx="8494800" cy="2704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16161"/>
              </a:buClr>
              <a:buSzPts val="1800"/>
              <a:buChar char="●"/>
              <a:defRPr sz="1800">
                <a:solidFill>
                  <a:srgbClr val="616161"/>
                </a:solidFill>
              </a:defRPr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616161"/>
              </a:buClr>
              <a:buSzPts val="1400"/>
              <a:buChar char="○"/>
              <a:defRPr sz="1400">
                <a:solidFill>
                  <a:srgbClr val="616161"/>
                </a:solidFill>
              </a:defRPr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616161"/>
              </a:buClr>
              <a:buSzPts val="1400"/>
              <a:buChar char="■"/>
              <a:defRPr sz="1400">
                <a:solidFill>
                  <a:srgbClr val="616161"/>
                </a:solidFill>
              </a:defRPr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616161"/>
              </a:buClr>
              <a:buSzPts val="1400"/>
              <a:buChar char="●"/>
              <a:defRPr sz="1400">
                <a:solidFill>
                  <a:srgbClr val="616161"/>
                </a:solidFill>
              </a:defRPr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616161"/>
              </a:buClr>
              <a:buSzPts val="1400"/>
              <a:buChar char="○"/>
              <a:defRPr sz="1400">
                <a:solidFill>
                  <a:srgbClr val="616161"/>
                </a:solidFill>
              </a:defRPr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616161"/>
              </a:buClr>
              <a:buSzPts val="1400"/>
              <a:buChar char="■"/>
              <a:defRPr sz="1400">
                <a:solidFill>
                  <a:srgbClr val="616161"/>
                </a:solidFill>
              </a:defRPr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616161"/>
              </a:buClr>
              <a:buSzPts val="1400"/>
              <a:buChar char="●"/>
              <a:defRPr sz="1400">
                <a:solidFill>
                  <a:srgbClr val="616161"/>
                </a:solidFill>
              </a:defRPr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616161"/>
              </a:buClr>
              <a:buSzPts val="1400"/>
              <a:buChar char="○"/>
              <a:defRPr sz="1400">
                <a:solidFill>
                  <a:srgbClr val="616161"/>
                </a:solidFill>
              </a:defRPr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616161"/>
              </a:buClr>
              <a:buSzPts val="1400"/>
              <a:buChar char="■"/>
              <a:defRPr sz="1400">
                <a:solidFill>
                  <a:srgbClr val="616161"/>
                </a:solidFill>
              </a:defRPr>
            </a:lvl9pPr>
          </a:lstStyle>
          <a:p>
            <a:endParaRPr/>
          </a:p>
        </p:txBody>
      </p:sp>
      <p:sp>
        <p:nvSpPr>
          <p:cNvPr id="64" name="Google Shape;64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616161"/>
                </a:solidFill>
              </a:defRPr>
            </a:lvl1pPr>
            <a:lvl2pPr lvl="1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616161"/>
                </a:solidFill>
              </a:defRPr>
            </a:lvl2pPr>
            <a:lvl3pPr lvl="2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616161"/>
                </a:solidFill>
              </a:defRPr>
            </a:lvl3pPr>
            <a:lvl4pPr lvl="3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616161"/>
                </a:solidFill>
              </a:defRPr>
            </a:lvl4pPr>
            <a:lvl5pPr lvl="4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616161"/>
                </a:solidFill>
              </a:defRPr>
            </a:lvl5pPr>
            <a:lvl6pPr lvl="5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616161"/>
                </a:solidFill>
              </a:defRPr>
            </a:lvl6pPr>
            <a:lvl7pPr lvl="6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616161"/>
                </a:solidFill>
              </a:defRPr>
            </a:lvl7pPr>
            <a:lvl8pPr lvl="7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616161"/>
                </a:solidFill>
              </a:defRPr>
            </a:lvl8pPr>
            <a:lvl9pPr lvl="8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61616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_51c1a4b42245d33b">
  <p:cSld name="BLANK_51c1a4b42245d33b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7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72" name="Google Shape;72;p17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73" name="Google Shape;73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76" name="Google Shape;76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0" name="Google Shape;80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84" name="Google Shape;84;p20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85" name="Google Shape;85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2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1" name="Google Shape;91;p22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92" name="Google Shape;92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3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95" name="Google Shape;95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24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99" name="Google Shape;99;p24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00" name="Google Shape;100;p24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01" name="Google Shape;101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5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104" name="Google Shape;104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6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07" name="Google Shape;107;p26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08" name="Google Shape;108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0.xml"/><Relationship Id="rId8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4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F3F3F3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60" r:id="rId12"/>
    <p:sldLayoutId id="2147483661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F3F3F3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60" r:id="rId12"/>
    <p:sldLayoutId id="2147483661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8" name="Google Shape;68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9" name="Google Shape;69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115" name="Google Shape;115;p28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>
                <a:latin typeface="Calibri"/>
                <a:ea typeface="Calibri"/>
                <a:cs typeface="Calibri"/>
                <a:sym typeface="Calibri"/>
              </a:rPr>
              <a:t>EE 5178 : Modern Computer Vision</a:t>
            </a:r>
            <a:endParaRPr sz="36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28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DF4E4"/>
              </a:buClr>
              <a:buFont typeface="Roboto"/>
              <a:buNone/>
            </a:pPr>
            <a:r>
              <a:rPr lang="en" dirty="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Kaushik Mitra</a:t>
            </a:r>
            <a:endParaRPr dirty="0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DF4E4"/>
              </a:buClr>
              <a:buFont typeface="Roboto"/>
              <a:buNone/>
            </a:pPr>
            <a:r>
              <a:rPr lang="en" dirty="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Dept. of Electrical Engineering</a:t>
            </a:r>
            <a:endParaRPr dirty="0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DF4E4"/>
              </a:buClr>
              <a:buFont typeface="Roboto"/>
              <a:buNone/>
            </a:pPr>
            <a:r>
              <a:rPr lang="en" dirty="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IIT Madras</a:t>
            </a:r>
            <a:endParaRPr dirty="0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121" name="Google Shape;121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2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/>
          </a:p>
        </p:txBody>
      </p:sp>
      <p:pic>
        <p:nvPicPr>
          <p:cNvPr id="123" name="Google Shape;123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6800" y="0"/>
            <a:ext cx="6862690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128" name="Google Shape;128;p3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kind of information can be extracted from an image?</a:t>
            </a:r>
            <a:endParaRPr/>
          </a:p>
        </p:txBody>
      </p:sp>
      <p:sp>
        <p:nvSpPr>
          <p:cNvPr id="129" name="Google Shape;129;p3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381000" algn="l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400"/>
              <a:buChar char="❖"/>
            </a:pPr>
            <a:r>
              <a:rPr lang="en" sz="2400">
                <a:solidFill>
                  <a:srgbClr val="000000"/>
                </a:solidFill>
              </a:rPr>
              <a:t>Semantic information</a:t>
            </a: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400"/>
              <a:buChar char="❖"/>
            </a:pPr>
            <a:r>
              <a:rPr lang="en" sz="2400">
                <a:solidFill>
                  <a:srgbClr val="000000"/>
                </a:solidFill>
              </a:rPr>
              <a:t>Metric information</a:t>
            </a:r>
            <a:endParaRPr sz="24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134" name="Google Shape;134;p3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3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/>
          </a:p>
        </p:txBody>
      </p:sp>
      <p:pic>
        <p:nvPicPr>
          <p:cNvPr id="136" name="Google Shape;136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0661" y="0"/>
            <a:ext cx="6862677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141" name="Google Shape;141;p3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3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/>
          </a:p>
        </p:txBody>
      </p:sp>
      <p:pic>
        <p:nvPicPr>
          <p:cNvPr id="143" name="Google Shape;143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0661" y="0"/>
            <a:ext cx="6862677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148" name="Google Shape;148;p3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3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/>
          </a:p>
        </p:txBody>
      </p:sp>
      <p:pic>
        <p:nvPicPr>
          <p:cNvPr id="150" name="Google Shape;150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0661" y="0"/>
            <a:ext cx="6862677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155" name="Google Shape;155;p3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3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/>
          </a:p>
        </p:txBody>
      </p:sp>
      <p:pic>
        <p:nvPicPr>
          <p:cNvPr id="157" name="Google Shape;157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0661" y="0"/>
            <a:ext cx="6862677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162" name="Google Shape;162;p35"/>
          <p:cNvSpPr txBox="1">
            <a:spLocks noGrp="1"/>
          </p:cNvSpPr>
          <p:nvPr>
            <p:ph type="title"/>
          </p:nvPr>
        </p:nvSpPr>
        <p:spPr>
          <a:xfrm>
            <a:off x="235500" y="20452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Semantic Computer Vision tasks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167" name="Google Shape;167;p3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 Recognition</a:t>
            </a:r>
            <a:endParaRPr/>
          </a:p>
        </p:txBody>
      </p:sp>
      <p:sp>
        <p:nvSpPr>
          <p:cNvPr id="168" name="Google Shape;168;p3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/>
          </a:p>
        </p:txBody>
      </p:sp>
      <p:pic>
        <p:nvPicPr>
          <p:cNvPr id="169" name="Google Shape;169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33525" y="1150925"/>
            <a:ext cx="6076950" cy="341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174" name="Google Shape;174;p3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Object/face Detection (Recognition + Localization)</a:t>
            </a:r>
            <a:endParaRPr/>
          </a:p>
        </p:txBody>
      </p:sp>
      <p:pic>
        <p:nvPicPr>
          <p:cNvPr id="175" name="Google Shape;175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2953275" cy="1659875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37"/>
          <p:cNvSpPr txBox="1"/>
          <p:nvPr/>
        </p:nvSpPr>
        <p:spPr>
          <a:xfrm>
            <a:off x="311700" y="2765450"/>
            <a:ext cx="2593200" cy="21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chemeClr val="hlink"/>
                </a:solidFill>
                <a:hlinkClick r:id="rId4"/>
              </a:rPr>
              <a:t>Image Source</a:t>
            </a:r>
            <a:endParaRPr sz="1000"/>
          </a:p>
        </p:txBody>
      </p:sp>
      <p:sp>
        <p:nvSpPr>
          <p:cNvPr id="177" name="Google Shape;177;p37"/>
          <p:cNvSpPr txBox="1"/>
          <p:nvPr/>
        </p:nvSpPr>
        <p:spPr>
          <a:xfrm>
            <a:off x="4804229" y="4454825"/>
            <a:ext cx="3507000" cy="21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You Only Look Once: Unified, Real-Time Object Detection</a:t>
            </a:r>
            <a:endParaRPr sz="1000"/>
          </a:p>
        </p:txBody>
      </p:sp>
      <p:pic>
        <p:nvPicPr>
          <p:cNvPr id="178" name="Google Shape;178;p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3850" y="3152078"/>
            <a:ext cx="3030376" cy="15178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3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11250" y="1170125"/>
            <a:ext cx="5932750" cy="3334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184" name="Google Shape;184;p3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2"/>
                </a:solidFill>
              </a:rPr>
              <a:t>Face detection + Localization + Classification</a:t>
            </a:r>
            <a:endParaRPr/>
          </a:p>
        </p:txBody>
      </p:sp>
      <p:pic>
        <p:nvPicPr>
          <p:cNvPr id="185" name="Google Shape;185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54606" y="1471075"/>
            <a:ext cx="4936994" cy="27811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9050" y="2017450"/>
            <a:ext cx="3654175" cy="1688424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38"/>
          <p:cNvSpPr txBox="1"/>
          <p:nvPr/>
        </p:nvSpPr>
        <p:spPr>
          <a:xfrm>
            <a:off x="616500" y="3679850"/>
            <a:ext cx="2593200" cy="21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chemeClr val="hlink"/>
                </a:solidFill>
                <a:hlinkClick r:id="rId5"/>
              </a:rPr>
              <a:t>Image Source</a:t>
            </a:r>
            <a:endParaRPr sz="1000"/>
          </a:p>
        </p:txBody>
      </p:sp>
      <p:sp>
        <p:nvSpPr>
          <p:cNvPr id="188" name="Google Shape;188;p38"/>
          <p:cNvSpPr txBox="1"/>
          <p:nvPr/>
        </p:nvSpPr>
        <p:spPr>
          <a:xfrm>
            <a:off x="5128725" y="4252250"/>
            <a:ext cx="2593200" cy="21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chemeClr val="hlink"/>
                </a:solidFill>
                <a:hlinkClick r:id="rId6"/>
              </a:rPr>
              <a:t>Image Source</a:t>
            </a:r>
            <a:endParaRPr sz="1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193" name="Google Shape;193;p3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2"/>
                </a:solidFill>
              </a:rPr>
              <a:t>Number Plate Reader</a:t>
            </a:r>
            <a:endParaRPr b="1">
              <a:solidFill>
                <a:schemeClr val="dk2"/>
              </a:solidFill>
            </a:endParaRPr>
          </a:p>
        </p:txBody>
      </p:sp>
      <p:pic>
        <p:nvPicPr>
          <p:cNvPr id="194" name="Google Shape;194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651513"/>
            <a:ext cx="2807900" cy="1840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72000" y="1170125"/>
            <a:ext cx="5719601" cy="28674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200" name="Google Shape;200;p40"/>
          <p:cNvSpPr txBox="1">
            <a:spLocks noGrp="1"/>
          </p:cNvSpPr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2"/>
                </a:solidFill>
              </a:rPr>
              <a:t>Image Segmentation</a:t>
            </a:r>
            <a:endParaRPr/>
          </a:p>
        </p:txBody>
      </p:sp>
      <p:pic>
        <p:nvPicPr>
          <p:cNvPr id="201" name="Google Shape;201;p40"/>
          <p:cNvPicPr preferRelativeResize="0"/>
          <p:nvPr/>
        </p:nvPicPr>
        <p:blipFill rotWithShape="1">
          <a:blip r:embed="rId3">
            <a:alphaModFix/>
          </a:blip>
          <a:srcRect r="50641"/>
          <a:stretch/>
        </p:blipFill>
        <p:spPr>
          <a:xfrm>
            <a:off x="1171575" y="602450"/>
            <a:ext cx="6095124" cy="4527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206" name="Google Shape;206;p41"/>
          <p:cNvSpPr txBox="1">
            <a:spLocks noGrp="1"/>
          </p:cNvSpPr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Semantic Image Segmentation</a:t>
            </a:r>
            <a:endParaRPr/>
          </a:p>
        </p:txBody>
      </p:sp>
      <p:sp>
        <p:nvSpPr>
          <p:cNvPr id="207" name="Google Shape;207;p4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/>
          </a:p>
        </p:txBody>
      </p:sp>
      <p:pic>
        <p:nvPicPr>
          <p:cNvPr id="208" name="Google Shape;208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9526" y="789125"/>
            <a:ext cx="7594901" cy="4278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213" name="Google Shape;213;p4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42"/>
          <p:cNvSpPr txBox="1">
            <a:spLocks noGrp="1"/>
          </p:cNvSpPr>
          <p:nvPr>
            <p:ph type="body" idx="1"/>
          </p:nvPr>
        </p:nvSpPr>
        <p:spPr>
          <a:xfrm>
            <a:off x="6935525" y="4252300"/>
            <a:ext cx="1896900" cy="69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Courtesy: Prof. Sukhendu Das</a:t>
            </a:r>
            <a:endParaRPr/>
          </a:p>
        </p:txBody>
      </p:sp>
      <p:pic>
        <p:nvPicPr>
          <p:cNvPr id="215" name="Google Shape;215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038" y="109538"/>
            <a:ext cx="6562725" cy="4924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220" name="Google Shape;220;p4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2"/>
                </a:solidFill>
              </a:rPr>
              <a:t>Object Tracking</a:t>
            </a:r>
            <a:endParaRPr/>
          </a:p>
        </p:txBody>
      </p:sp>
      <p:pic>
        <p:nvPicPr>
          <p:cNvPr id="221" name="Google Shape;221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88" y="1670050"/>
            <a:ext cx="4143375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07463" y="1627325"/>
            <a:ext cx="4384137" cy="2469731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43"/>
          <p:cNvSpPr txBox="1"/>
          <p:nvPr/>
        </p:nvSpPr>
        <p:spPr>
          <a:xfrm>
            <a:off x="5387525" y="3716050"/>
            <a:ext cx="3000000" cy="88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01600" marR="101600" lvl="0" indent="0" algn="l" rtl="0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A86E8"/>
              </a:solidFill>
              <a:uFill>
                <a:noFill/>
              </a:uFill>
              <a:hlinkClick r:id="rId5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u="sng">
                <a:solidFill>
                  <a:srgbClr val="4A86E8"/>
                </a:solidFill>
                <a:latin typeface="Roboto"/>
                <a:ea typeface="Roboto"/>
                <a:cs typeface="Roboto"/>
                <a:sym typeface="Roboto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DeepSORT: Deep Learning to track custom objects in a video</a:t>
            </a:r>
            <a:endParaRPr sz="1500" u="sng">
              <a:solidFill>
                <a:srgbClr val="4A86E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4" name="Google Shape;224;p43"/>
          <p:cNvSpPr txBox="1"/>
          <p:nvPr/>
        </p:nvSpPr>
        <p:spPr>
          <a:xfrm>
            <a:off x="839350" y="4118700"/>
            <a:ext cx="27132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6"/>
              </a:rPr>
              <a:t>Image Source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229" name="Google Shape;229;p4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Pose estimation</a:t>
            </a:r>
            <a:endParaRPr/>
          </a:p>
        </p:txBody>
      </p:sp>
      <p:sp>
        <p:nvSpPr>
          <p:cNvPr id="230" name="Google Shape;230;p4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/>
          </a:p>
        </p:txBody>
      </p:sp>
      <p:pic>
        <p:nvPicPr>
          <p:cNvPr id="231" name="Google Shape;231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31105" y="1152475"/>
            <a:ext cx="3070895" cy="3838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236" name="Google Shape;236;p4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2"/>
                </a:solidFill>
              </a:rPr>
              <a:t>Activity </a:t>
            </a:r>
            <a:endParaRPr b="1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2"/>
                </a:solidFill>
              </a:rPr>
              <a:t>Recognition</a:t>
            </a:r>
            <a:endParaRPr/>
          </a:p>
        </p:txBody>
      </p:sp>
      <p:sp>
        <p:nvSpPr>
          <p:cNvPr id="237" name="Google Shape;237;p4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/>
          </a:p>
        </p:txBody>
      </p:sp>
      <p:pic>
        <p:nvPicPr>
          <p:cNvPr id="238" name="Google Shape;238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44850" y="174025"/>
            <a:ext cx="6477699" cy="4817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243" name="Google Shape;243;p4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2"/>
                </a:solidFill>
              </a:rPr>
              <a:t>Image Captioning</a:t>
            </a:r>
            <a:endParaRPr/>
          </a:p>
        </p:txBody>
      </p:sp>
      <p:sp>
        <p:nvSpPr>
          <p:cNvPr id="244" name="Google Shape;244;p4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/>
          </a:p>
        </p:txBody>
      </p:sp>
      <p:pic>
        <p:nvPicPr>
          <p:cNvPr id="245" name="Google Shape;245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8825" y="1152475"/>
            <a:ext cx="7966349" cy="3991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250" name="Google Shape;250;p47"/>
          <p:cNvSpPr txBox="1">
            <a:spLocks noGrp="1"/>
          </p:cNvSpPr>
          <p:nvPr>
            <p:ph type="title"/>
          </p:nvPr>
        </p:nvSpPr>
        <p:spPr>
          <a:xfrm>
            <a:off x="311700" y="21214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Geometric Computer Vision :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Vision for measurement 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255" name="Google Shape;255;p4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Depth from stereo</a:t>
            </a:r>
            <a:endParaRPr/>
          </a:p>
        </p:txBody>
      </p:sp>
      <p:sp>
        <p:nvSpPr>
          <p:cNvPr id="256" name="Google Shape;256;p4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/>
          </a:p>
        </p:txBody>
      </p:sp>
      <p:pic>
        <p:nvPicPr>
          <p:cNvPr id="257" name="Google Shape;257;p48"/>
          <p:cNvPicPr preferRelativeResize="0"/>
          <p:nvPr/>
        </p:nvPicPr>
        <p:blipFill rotWithShape="1">
          <a:blip r:embed="rId3">
            <a:alphaModFix/>
          </a:blip>
          <a:srcRect t="22408"/>
          <a:stretch/>
        </p:blipFill>
        <p:spPr>
          <a:xfrm>
            <a:off x="0" y="1152475"/>
            <a:ext cx="5331451" cy="31026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59250" y="1603375"/>
            <a:ext cx="4184750" cy="251460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48"/>
          <p:cNvSpPr txBox="1"/>
          <p:nvPr/>
        </p:nvSpPr>
        <p:spPr>
          <a:xfrm>
            <a:off x="1498850" y="4255125"/>
            <a:ext cx="2082300" cy="3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Source: Simon Jacobs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264" name="Google Shape;264;p4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2"/>
                </a:solidFill>
              </a:rPr>
              <a:t>Depth from a single image</a:t>
            </a:r>
            <a:endParaRPr/>
          </a:p>
        </p:txBody>
      </p:sp>
      <p:pic>
        <p:nvPicPr>
          <p:cNvPr id="265" name="Google Shape;265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24575" y="1017725"/>
            <a:ext cx="6736175" cy="3551151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49"/>
          <p:cNvSpPr txBox="1">
            <a:spLocks noGrp="1"/>
          </p:cNvSpPr>
          <p:nvPr>
            <p:ph type="body" idx="1"/>
          </p:nvPr>
        </p:nvSpPr>
        <p:spPr>
          <a:xfrm>
            <a:off x="227700" y="4568875"/>
            <a:ext cx="8520600" cy="38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Courtesy Noah Snavely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