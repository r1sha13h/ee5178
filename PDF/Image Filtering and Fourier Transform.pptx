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db208c3b0_2_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db208c3b0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b208c3b0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bdb208c3b0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db208c3b0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bdb208c3b0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b208c3b0_2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bdb208c3b0_2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b208c3b0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bdb208c3b0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b208c3b0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db208c3b0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b208c3b0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bdb208c3b0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db208c3b0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bdb208c3b0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db208c3b0_2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bdb208c3b0_2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db208c3b0_2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db208c3b0_2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db208c3b0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bdb208c3b0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db208c3b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bdb208c3b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db208c3b0_6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bdb208c3b0_6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db208c3b0_5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db208c3b0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db208c3b0_5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db208c3b0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db208c3b0_6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db208c3b0_6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db208c3b0_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db208c3b0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db208c3b0_6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db208c3b0_6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db208c3b0_6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db208c3b0_6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This explains why downsampling an image expands its frequency spectrum, leading to overlap (aliasing) if high frequencies aren't removed first.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It is also used in scale-invariant feature detection to understand how patterns change across resolutions.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db208c3b0_6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bdb208c3b0_6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db208c3b0_6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db208c3b0_6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db208c3b0_6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db208c3b0_6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bdb208c3b0_6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bdb208c3b0_6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db208c3b0_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db208c3b0_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Mentuon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db208c3b0_6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bdb208c3b0_6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bdb208c3b0_6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bdb208c3b0_6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Mentuon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db208c3b0_6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bdb208c3b0_6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db208c3b0_6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bdb208c3b0_6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db208c3b0_6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bdb208c3b0_6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bdb208c3b0_6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bdb208c3b0_6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db208c3b0_6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db208c3b0_6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db208c3b0_2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bdb208c3b0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db208c3b0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g3bdb208c3b0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bdb208c3b0_2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bdb208c3b0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db208c3b0_2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bdb208c3b0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db208c3b0_2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g3bdb208c3b0_2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bdb208c3b0_2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bdb208c3b0_2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bdb208c3b0_2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bdb208c3b0_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db208c3b0_2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3bdb208c3b0_2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bdb208c3b0_2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g3bdb208c3b0_2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db208c3b0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g3bdb208c3b0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db208c3b0_2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bdb208c3b0_2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bdb208c3b0_2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bdb208c3b0_2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db208c3b0_2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3bdb208c3b0_2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bdb208c3b0_2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g3bdb208c3b0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db208c3b0_2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bdb208c3b0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db208c3b0_2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g3bdb208c3b0_2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bdb208c3b0_2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g3bdb208c3b0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bdb208c3b0_2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g3bdb208c3b0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bdb208c3b0_2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bdb208c3b0_2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db208c3b0_2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bdb208c3b0_2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db208c3b0_2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bdb208c3b0_2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bdb208c3b0_2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bdb208c3b0_2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db208c3b0_2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3bdb208c3b0_2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5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0.png"/><Relationship Id="rId4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44.png"/><Relationship Id="rId5" Type="http://schemas.openxmlformats.org/officeDocument/2006/relationships/image" Target="../media/image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0.png"/><Relationship Id="rId4" Type="http://schemas.openxmlformats.org/officeDocument/2006/relationships/image" Target="../media/image6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Relationship Id="rId5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9.png"/><Relationship Id="rId4" Type="http://schemas.openxmlformats.org/officeDocument/2006/relationships/image" Target="../media/image6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2.png"/><Relationship Id="rId4" Type="http://schemas.openxmlformats.org/officeDocument/2006/relationships/image" Target="../media/image6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png"/><Relationship Id="rId4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7.png"/><Relationship Id="rId4" Type="http://schemas.openxmlformats.org/officeDocument/2006/relationships/image" Target="../media/image6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9.png"/><Relationship Id="rId4" Type="http://schemas.openxmlformats.org/officeDocument/2006/relationships/image" Target="../media/image6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0.png"/><Relationship Id="rId4" Type="http://schemas.openxmlformats.org/officeDocument/2006/relationships/image" Target="../media/image7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7.png"/><Relationship Id="rId4" Type="http://schemas.openxmlformats.org/officeDocument/2006/relationships/image" Target="../media/image6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4.png"/><Relationship Id="rId4" Type="http://schemas.openxmlformats.org/officeDocument/2006/relationships/image" Target="../media/image7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uomosul.edu.iq/public/files/datafolder_1125/_20190915_081725_41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Image Filtering and Fourier Transform</a:t>
            </a:r>
            <a:endParaRPr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EE5178 - Modern Computer Vision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Types of Noises in Images</a:t>
            </a:r>
            <a:endParaRPr/>
          </a:p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Sources of Noise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Capture Noise: Noise in the environment of the scene captured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Lighting (high lit and low lit)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Sensor (temperature fluctuations, electrical interference)</a:t>
            </a:r>
            <a:endParaRPr/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Lens (dust, fog etc.)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Sampling Noise: Continuous Real World Scene to Discrete Pixels. Can cause aliasing effects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Processing Noise: Noise introduced when processing images due to mathematical approximations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Image Compression Noise: JPEG Lossy Compression removes finer details</a:t>
            </a:r>
            <a:endParaRPr/>
          </a:p>
        </p:txBody>
      </p:sp>
      <p:pic>
        <p:nvPicPr>
          <p:cNvPr id="107" name="Google Shape;10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1613" y="3458050"/>
            <a:ext cx="62007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Types of Noises in Images: Salt and Pepper Noise</a:t>
            </a:r>
            <a:endParaRPr/>
          </a:p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known as </a:t>
            </a:r>
            <a:r>
              <a:rPr b="1" lang="en"/>
              <a:t>Impulse Noise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 white and black pixels scattered across the image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Source being faulty camera sensors majorly</a:t>
            </a:r>
            <a:endParaRPr/>
          </a:p>
        </p:txBody>
      </p:sp>
      <p:pic>
        <p:nvPicPr>
          <p:cNvPr id="114" name="Google Shape;114;p27" title="Noise_salt_and_pepp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4375" y="1017725"/>
            <a:ext cx="285680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7"/>
          <p:cNvSpPr txBox="1"/>
          <p:nvPr/>
        </p:nvSpPr>
        <p:spPr>
          <a:xfrm>
            <a:off x="311700" y="4616550"/>
            <a:ext cx="30432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https://en.wikipedia.org/wiki/Image_noise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Types of Noises in Images: Gaussian Noise</a:t>
            </a:r>
            <a:endParaRPr/>
          </a:p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common type of noise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Caused by lighting effects, sensor limitations and electronic interference</a:t>
            </a:r>
            <a:endParaRPr/>
          </a:p>
        </p:txBody>
      </p:sp>
      <p:pic>
        <p:nvPicPr>
          <p:cNvPr id="122" name="Google Shape;12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925" y="2480925"/>
            <a:ext cx="4035075" cy="12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8" title="Gaussian_cameraman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0100" y="1238500"/>
            <a:ext cx="34164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Types of Noises: Shot Noise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known as </a:t>
            </a:r>
            <a:r>
              <a:rPr b="1" lang="en"/>
              <a:t>Poisson Noise, quantum noise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Occurs due to variations in number of photons incident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Randomness forms a Poisson distribution</a:t>
            </a:r>
            <a:endParaRPr/>
          </a:p>
        </p:txBody>
      </p:sp>
      <p:pic>
        <p:nvPicPr>
          <p:cNvPr id="130" name="Google Shape;130;p29" title="Photon-nois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1170125"/>
            <a:ext cx="4267200" cy="284368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9"/>
          <p:cNvSpPr txBox="1"/>
          <p:nvPr/>
        </p:nvSpPr>
        <p:spPr>
          <a:xfrm>
            <a:off x="170700" y="4705600"/>
            <a:ext cx="41415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https://en.wikipedia.org/wiki/Shot_noise#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Gaussian Noise Removal</a:t>
            </a:r>
            <a:endParaRPr/>
          </a:p>
        </p:txBody>
      </p:sp>
      <p:sp>
        <p:nvSpPr>
          <p:cNvPr id="137" name="Google Shape;137;p30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remove gaussian noise, we can use two filters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Box Filter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Gaussian Filter</a:t>
            </a:r>
            <a:endParaRPr/>
          </a:p>
        </p:txBody>
      </p:sp>
      <p:pic>
        <p:nvPicPr>
          <p:cNvPr id="138" name="Google Shape;138;p30" title="img_gauss_smalle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575" y="987138"/>
            <a:ext cx="3169225" cy="316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Box Filter</a:t>
            </a:r>
            <a:endParaRPr/>
          </a:p>
        </p:txBody>
      </p:sp>
      <p:sp>
        <p:nvSpPr>
          <p:cNvPr id="144" name="Google Shape;14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45" name="Google Shape;14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503" y="1714875"/>
            <a:ext cx="2415925" cy="171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1" title="box_from_manual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8900" y="1338350"/>
            <a:ext cx="2822375" cy="282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1"/>
          <p:cNvSpPr txBox="1"/>
          <p:nvPr/>
        </p:nvSpPr>
        <p:spPr>
          <a:xfrm>
            <a:off x="230075" y="4690750"/>
            <a:ext cx="34662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https://en.wikipedia.org/wiki/Box_blur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Gaussian Filter</a:t>
            </a:r>
            <a:endParaRPr/>
          </a:p>
        </p:txBody>
      </p:sp>
      <p:pic>
        <p:nvPicPr>
          <p:cNvPr id="153" name="Google Shape;153;p32"/>
          <p:cNvPicPr preferRelativeResize="0"/>
          <p:nvPr/>
        </p:nvPicPr>
        <p:blipFill rotWithShape="1">
          <a:blip r:embed="rId3">
            <a:alphaModFix/>
          </a:blip>
          <a:srcRect b="5130" l="0" r="0" t="-5130"/>
          <a:stretch/>
        </p:blipFill>
        <p:spPr>
          <a:xfrm>
            <a:off x="341403" y="1907475"/>
            <a:ext cx="2974200" cy="144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7075" y="1754220"/>
            <a:ext cx="2139747" cy="19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2" title="gauss_from_manua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7950" y="152325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Salt and Pepper Noise Removal</a:t>
            </a:r>
            <a:endParaRPr/>
          </a:p>
        </p:txBody>
      </p:sp>
      <p:pic>
        <p:nvPicPr>
          <p:cNvPr id="161" name="Google Shape;161;p33" title="saltandpeppergau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0875" y="1152487"/>
            <a:ext cx="6758426" cy="33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Median Filtering</a:t>
            </a:r>
            <a:endParaRPr/>
          </a:p>
        </p:txBody>
      </p:sp>
      <p:pic>
        <p:nvPicPr>
          <p:cNvPr id="167" name="Google Shape;167;p34" title="saltandpeppermedia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227" y="1189576"/>
            <a:ext cx="697972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in 1D (Time domain)</a:t>
            </a:r>
            <a:endParaRPr/>
          </a:p>
        </p:txBody>
      </p:sp>
      <p:pic>
        <p:nvPicPr>
          <p:cNvPr id="173" name="Google Shape;173;p35"/>
          <p:cNvPicPr preferRelativeResize="0"/>
          <p:nvPr/>
        </p:nvPicPr>
        <p:blipFill rotWithShape="1">
          <a:blip r:embed="rId3">
            <a:alphaModFix/>
          </a:blip>
          <a:srcRect b="-1898" l="0" r="0" t="1900"/>
          <a:stretch/>
        </p:blipFill>
        <p:spPr>
          <a:xfrm>
            <a:off x="808975" y="2488076"/>
            <a:ext cx="3149900" cy="19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8545" y="2488100"/>
            <a:ext cx="3023506" cy="19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5"/>
          <p:cNvSpPr txBox="1"/>
          <p:nvPr/>
        </p:nvSpPr>
        <p:spPr>
          <a:xfrm>
            <a:off x="541800" y="1172700"/>
            <a:ext cx="7600200" cy="9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Transform a signal from the time domain to frequency domain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</a:pPr>
            <a:r>
              <a:rPr b="0" i="0" lang="en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Gives the ability to view which frequencies dominate and which don’t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The Frequency Perspective in 2D Vision</a:t>
            </a:r>
            <a:endParaRPr/>
          </a:p>
        </p:txBody>
      </p:sp>
      <p:sp>
        <p:nvSpPr>
          <p:cNvPr id="181" name="Google Shape;181;p36"/>
          <p:cNvSpPr txBox="1"/>
          <p:nvPr>
            <p:ph idx="1" type="body"/>
          </p:nvPr>
        </p:nvSpPr>
        <p:spPr>
          <a:xfrm>
            <a:off x="537550" y="1152475"/>
            <a:ext cx="7767300" cy="25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2D Fourier Transform decomposes an image into a weighted sum of sinusoidal plane waves.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shifts our perspective from where a intensity is (Spatial Domain) to how fast intensities change (Frequency Domain).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move from intensity</a:t>
            </a:r>
            <a:r>
              <a:rPr lang="en"/>
              <a:t> </a:t>
            </a:r>
            <a:r>
              <a:rPr lang="en"/>
              <a:t>f(x, y) to frequencies F(u</a:t>
            </a:r>
            <a:r>
              <a:rPr lang="en"/>
              <a:t>,</a:t>
            </a:r>
            <a:r>
              <a:rPr lang="en"/>
              <a:t>v), we use the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Fourier Transform.</a:t>
            </a:r>
            <a:endParaRPr/>
          </a:p>
        </p:txBody>
      </p:sp>
      <p:pic>
        <p:nvPicPr>
          <p:cNvPr id="182" name="Google Shape;182;p36" title="{&quot;red&quot;:173,&quot;green&quot;:173,&quot;blue&quot;:173,&quot;origURL&quot;:&quot;https://www.codecogs.com/eqnedit.php?latex=%5Ciint_%7B-%5Cinfty%7D%5E%7B%5Cinfty%7D%20f(x%2C%20y)%20e%5E%7B-j2%5Cpi(ux%20%2B%20vy)%7D%20%5C%2Cdx%5C%2Cdy#0&quot;,&quot;size&quot;:18,&quot;width&quot;:342.99212598425197,&quot;height&quot;:54.9921259842519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7750" y="3839025"/>
            <a:ext cx="3670302" cy="6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Discrete Fourier Transform</a:t>
            </a:r>
            <a:endParaRPr/>
          </a:p>
        </p:txBody>
      </p:sp>
      <p:sp>
        <p:nvSpPr>
          <p:cNvPr id="188" name="Google Shape;188;p37"/>
          <p:cNvSpPr txBox="1"/>
          <p:nvPr>
            <p:ph idx="1" type="body"/>
          </p:nvPr>
        </p:nvSpPr>
        <p:spPr>
          <a:xfrm>
            <a:off x="311700" y="1165175"/>
            <a:ext cx="8616300" cy="17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In the physical world, light is continuous. In CV, we sample that light into pixels. This discretization is what forces us to move from the integral to the </a:t>
            </a:r>
            <a:r>
              <a:rPr lang="en" sz="1700"/>
              <a:t>sum. 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Example: </a:t>
            </a:r>
            <a:r>
              <a:rPr lang="en" sz="1700"/>
              <a:t>8-bit depth maps light intensity into integers from 0 (black) to 255 (white)</a:t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To mathematically discretize a continuous image f(x, y), we multiply it by a 2D Impulse Train s(x, y), which acts as a sampling grid of Dirac delta functions.</a:t>
            </a:r>
            <a:endParaRPr sz="1600"/>
          </a:p>
        </p:txBody>
      </p:sp>
      <p:sp>
        <p:nvSpPr>
          <p:cNvPr id="189" name="Google Shape;189;p37"/>
          <p:cNvSpPr txBox="1"/>
          <p:nvPr/>
        </p:nvSpPr>
        <p:spPr>
          <a:xfrm>
            <a:off x="656400" y="4113875"/>
            <a:ext cx="73788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DADA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DADAD"/>
              </a:solidFill>
            </a:endParaRPr>
          </a:p>
        </p:txBody>
      </p:sp>
      <p:pic>
        <p:nvPicPr>
          <p:cNvPr id="190" name="Google Shape;190;p37" title="{&quot;red&quot;:173,&quot;green&quot;:173,&quot;blue&quot;:173,&quot;origURL&quot;:&quot;https://www.codecogs.com/eqnedit.php?latex=F(u%2C%20v)%20%3D%20%5Csum_%7Bx%3D0%7D%5E%7BM-1%7D%20%5Csum_%7By%3D0%7D%5E%7BN-1%7D%20f(x%2C%20y)%20e%5E%7B-j2%5Cpi%20%5Cleft(%5Cfrac%7Bux%7D%7BM%7D%20%2B%20%5Cfrac%7Bvy%7D%7BN%7D%5Cright)%7D#0&quot;,&quot;size&quot;:18,&quot;width&quot;:581.007874015748,&quot;height&quot;:50.05511811023622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6400" y="3966425"/>
            <a:ext cx="3807803" cy="72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7" title="{&quot;red&quot;:173,&quot;green&quot;:173,&quot;blue&quot;:173,&quot;origURL&quot;:&quot;https://www.codecogs.com/eqnedit.php?latex=s(x%2C%20y)%20%3D%20%5Csum_%7Bm%3D-%5Cinfty%7D%5E%7B%5Cinfty%7D%20%5Csum_%7Bn%3D-%5Cinfty%7D%5E%7B%5Cinfty%7D%20%5Cdelta(x%20-%20m%5CDelta%20x%2C%20y%20-%20n%5CDelta%20y)#0&quot;,&quot;size&quot;:18,&quot;width&quot;:545.3858267716536,&quot;height&quot;:56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9850" y="3004900"/>
            <a:ext cx="3864344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405525" y="511025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Frequency domain in 2D?</a:t>
            </a:r>
            <a:endParaRPr/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405525" y="1038050"/>
            <a:ext cx="78462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forms a core pillar of classical computer vision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</a:t>
            </a:r>
            <a:r>
              <a:rPr b="1" lang="en"/>
              <a:t>nti-Aliasing</a:t>
            </a:r>
            <a:r>
              <a:rPr lang="en"/>
              <a:t>: Prevents artifacts (Moiré patterns) by removing high frequencies before downsampling.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Compression</a:t>
            </a:r>
            <a:r>
              <a:rPr lang="en"/>
              <a:t>: Enables JPEG by discarding high-frequency "noise" the human eye can't perceive.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Efficiency</a:t>
            </a:r>
            <a:r>
              <a:rPr lang="en"/>
              <a:t>: The Convolution Theorem turns expensive spatial filtering into fast, </a:t>
            </a:r>
            <a:r>
              <a:rPr lang="en"/>
              <a:t>pointwise</a:t>
            </a:r>
            <a:r>
              <a:rPr lang="en"/>
              <a:t> multiplication.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Denoising</a:t>
            </a:r>
            <a:r>
              <a:rPr lang="en"/>
              <a:t>: Allows for precise removal of periodic patterns or "grid noise" from sensors.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405525" y="511025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Fourier Basis</a:t>
            </a:r>
            <a:endParaRPr/>
          </a:p>
        </p:txBody>
      </p:sp>
      <p:sp>
        <p:nvSpPr>
          <p:cNvPr id="203" name="Google Shape;203;p39"/>
          <p:cNvSpPr txBox="1"/>
          <p:nvPr/>
        </p:nvSpPr>
        <p:spPr>
          <a:xfrm>
            <a:off x="2827225" y="4409975"/>
            <a:ext cx="631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04" name="Google Shape;204;p39"/>
          <p:cNvSpPr txBox="1"/>
          <p:nvPr/>
        </p:nvSpPr>
        <p:spPr>
          <a:xfrm>
            <a:off x="405525" y="1162875"/>
            <a:ext cx="76002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The 2D DFT represents an image as a sum of complex exponentials:</a:t>
            </a:r>
            <a:endParaRPr b="0" i="0" sz="1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9" title="{&quot;red&quot;:255,&quot;green&quot;:255,&quot;blue&quot;:255,&quot;origURL&quot;:&quot;https://www.codecogs.com/eqnedit.php?latex=e%5E%7B-j2%5Cpi%20%5Cleft(%5Cfrac%7Bux%7D%7BM%7D%20%2B%20%5Cfrac%7Bvy%7D%7BN%7D%5Cright)%7D%20%3A%20%5Ctext%7BThe%20basis%20function%20(a%20complex%20sinusoidal%20plane%20wave)%7D#0&quot;,&quot;size&quot;:18,&quot;width&quot;:598.4409448818898,&quot;height&quot;:223.25196850393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75" y="3551775"/>
            <a:ext cx="7714564" cy="365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9" title="{&quot;red&quot;:255,&quot;green&quot;:255,&quot;blue&quot;:255,&quot;origURL&quot;:&quot;https://www.codecogs.com/eqnedit.php?latex=F(u%2C%20v)%20%3A%20%5Ctext%7BThe%20coefficient%20(weight)%20of%20a%20specific%20frequency%20%7D%20(u%2C%20v)#0&quot;,&quot;size&quot;:18,&quot;width&quot;:598.4409448818898,&quot;height&quot;:223.25196850393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775" y="3035175"/>
            <a:ext cx="6875204" cy="2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9" title="{&quot;red&quot;:255,&quot;green&quot;:255,&quot;blue&quot;:255,&quot;origURL&quot;:&quot;https://www.codecogs.com/eqnedit.php?latex=f(x%2C%20y)%20%3A%20%5Ctext%7BThe%20input%20image%7D#0&quot;,&quot;size&quot;:18,&quot;width&quot;:598.4409448818898,&quot;height&quot;:45.09448818897638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775" y="4149875"/>
            <a:ext cx="2816006" cy="2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9" title="{&quot;red&quot;:173,&quot;green&quot;:173,&quot;blue&quot;:173,&quot;origURL&quot;:&quot;https://www.codecogs.com/eqnedit.php?latex=F(u%2C%20v)%20%3D%20%5Csum_%7Bx%3D0%7D%5E%7BM-1%7D%20%5Csum_%7By%3D0%7D%5E%7BN-1%7D%20f(x%2C%20y)%20e%5E%7B-j2%5Cpi%20%5Cleft(%5Cfrac%7Bux%7D%7BM%7D%20%2B%20%5Cfrac%7Bvy%7D%7BN%7D%5Cright)%7D#0&quot;,&quot;size&quot;:18,&quot;width&quot;:617.8110236220473,&quot;height&quot;:58.60629921259842}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0375" y="1833825"/>
            <a:ext cx="4236664" cy="80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14" name="Google Shape;214;p40"/>
          <p:cNvSpPr txBox="1"/>
          <p:nvPr/>
        </p:nvSpPr>
        <p:spPr>
          <a:xfrm>
            <a:off x="387350" y="12086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Linearity</a:t>
            </a:r>
            <a:r>
              <a:rPr b="1" lang="en" sz="2000">
                <a:solidFill>
                  <a:schemeClr val="lt2"/>
                </a:solidFill>
              </a:rPr>
              <a:t>: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The transform of a weighted sum of images is the weighted sum of their individual transforms.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15" name="Google Shape;215;p40" title="{&quot;red&quot;:173,&quot;green&quot;:173,&quot;blue&quot;:173,&quot;origURL&quot;:&quot;https://www.codecogs.com/eqnedit.php?latex=%5Cmathcal%7BF%7D%5C%7Baf(x%2C%20y)%20%2B%20bg(x%2C%20y)%5C%7D%20%3D%20aF(u%2C%20v)%20%2B%20bG(u%2C%20v)#0&quot;,&quot;size&quot;:18,&quot;width&quot;:591.992125984252,&quot;height&quot;:45.0944881889763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388" y="2946400"/>
            <a:ext cx="6011322" cy="31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21" name="Google Shape;221;p41"/>
          <p:cNvSpPr txBox="1"/>
          <p:nvPr/>
        </p:nvSpPr>
        <p:spPr>
          <a:xfrm>
            <a:off x="387350" y="12086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Separability: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The 2D transform can be computed by performing 1D transforms along the rows, followed by 1D transforms along the columns.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22" name="Google Shape;222;p41" title="{&quot;red&quot;:173,&quot;green&quot;:173,&quot;blue&quot;:173,&quot;origURL&quot;:&quot;https://www.codecogs.com/eqnedit.php?latex=F(u%2C%20v)%20%3D%20%5Csum_%7Bx%3D0%7D%5E%7BM-1%7D%20%5Cleft%5B%20%5Csum_%7By%3D0%7D%5E%7BN-1%7D%20f(x%2C%20y)%20e%5E%7B-j2%5Cpi%20%5Cfrac%7Bvy%7D%7BN%7D%7D%20%5Cright%5D%20e%5E%7B-j2%5Cpi%20%5Cfrac%7Bux%7D%7BM%7D%7D#0&quot;,&quot;size&quot;:18,&quot;width&quot;:591.992125984252,&quot;height&quot;:45.0944881889763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050" y="3187700"/>
            <a:ext cx="5639478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2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28" name="Google Shape;228;p42"/>
          <p:cNvSpPr txBox="1"/>
          <p:nvPr/>
        </p:nvSpPr>
        <p:spPr>
          <a:xfrm>
            <a:off x="387350" y="12340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Translation (Spatial Shift)</a:t>
            </a:r>
            <a:r>
              <a:rPr b="1" lang="en" sz="2000">
                <a:solidFill>
                  <a:schemeClr val="lt2"/>
                </a:solidFill>
              </a:rPr>
              <a:t>: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Shifting an image in the spatial domain only changes the phase in the frequency domain; the magnitude remains identical.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29" name="Google Shape;229;p42" title="{&quot;red&quot;:173,&quot;green&quot;:173,&quot;blue&quot;:173,&quot;origURL&quot;:&quot;https://www.codecogs.com/eqnedit.php?latex=f(x-x_0%2C%20y-y_0)%20%5Ciff%20F(u%2C%20v)%20e%5E%7B-j2%5Cpi%5Cleft(%5Cfrac%7Bux_0%7D%7BM%7D%20%2B%20%5Cfrac%7Bvy_0%7D%7BN%7D%5Cright)%7D#0&quot;,&quot;size&quot;:18,&quot;width&quot;:591.992125984252,&quot;height&quot;:68.0078740157480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" y="2699850"/>
            <a:ext cx="794790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35" name="Google Shape;235;p43"/>
          <p:cNvSpPr txBox="1"/>
          <p:nvPr/>
        </p:nvSpPr>
        <p:spPr>
          <a:xfrm>
            <a:off x="387350" y="12340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Scaling: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Stretching an image in the spatial domain leads to a reciprocal "shrinking" in the frequency domain.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36" name="Google Shape;236;p43" title="{&quot;red&quot;:173,&quot;green&quot;:173,&quot;blue&quot;:173,&quot;origURL&quot;:&quot;https://www.codecogs.com/eqnedit.php?latex=f(ax%2C%20by)%20%5Ciff%20%5Cfrac%7B1%7D%7B%7Cab%7C%7D%20F%5Cleft(%5Cfrac%7Bu%7D%7Ba%7D%2C%20%5Cfrac%7Bv%7D%7Bb%7D%5Cright)#0&quot;,&quot;size&quot;:18,&quot;width&quot;:591.992125984252,&quot;height&quot;:68.0078740157480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0225" y="2699850"/>
            <a:ext cx="4311649" cy="80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42" name="Google Shape;242;p44"/>
          <p:cNvSpPr txBox="1"/>
          <p:nvPr/>
        </p:nvSpPr>
        <p:spPr>
          <a:xfrm>
            <a:off x="387350" y="12340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Conjugate Symmetry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For any real-valued image f(x, y) (which describes almost all standard digital images), the Fourier Transform is Hermitian symmetric.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43" name="Google Shape;243;p44" title="{&quot;red&quot;:173,&quot;green&quot;:173,&quot;blue&quot;:173,&quot;origURL&quot;:&quot;https://www.codecogs.com/eqnedit.php?latex=F(u%2C%20v)%20%3D%20F%5E*(-u%2C%20-v)#0&quot;,&quot;size&quot;:18,&quot;width&quot;:591.992125984252,&quot;height&quot;:68.0078740157480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500" y="2850200"/>
            <a:ext cx="3543100" cy="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49" name="Google Shape;249;p45"/>
          <p:cNvSpPr txBox="1"/>
          <p:nvPr/>
        </p:nvSpPr>
        <p:spPr>
          <a:xfrm>
            <a:off x="387350" y="12340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Rotation: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If an image is rotated by an angle in the spatial domain, its frequency spectrum F(u, v) rotates by the exact same angle in the frequency domain.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50" name="Google Shape;250;p45" title="{&quot;red&quot;:173,&quot;green&quot;:173,&quot;blue&quot;:173,&quot;origURL&quot;:&quot;https://www.codecogs.com/eqnedit.php?latex=f(r%2C%20%5Cphi%20%2B%20%5Ctheta)%20%5Ciff%20F(%5Crho%2C%20%5Cpsi%20%2B%20%5Ctheta)#0&quot;,&quot;size&quot;:18,&quot;width&quot;:591.992125984252,&quot;height&quot;:68.0078740157480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613" y="3167700"/>
            <a:ext cx="5191175" cy="4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6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56" name="Google Shape;256;p46"/>
          <p:cNvSpPr txBox="1"/>
          <p:nvPr/>
        </p:nvSpPr>
        <p:spPr>
          <a:xfrm>
            <a:off x="387350" y="1234050"/>
            <a:ext cx="7937400" cy="19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The Discrete Fourier Transform (DFT) and its inverse are infinitely periodic in both the u and v directions.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This means the transform repeats itself every M units horizontally and N units vertically.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57" name="Google Shape;257;p46"/>
          <p:cNvSpPr txBox="1"/>
          <p:nvPr/>
        </p:nvSpPr>
        <p:spPr>
          <a:xfrm>
            <a:off x="1981200" y="3251200"/>
            <a:ext cx="463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58" name="Google Shape;258;p46" title="{&quot;red&quot;:173,&quot;green&quot;:173,&quot;blue&quot;:173,&quot;origURL&quot;:&quot;https://www.codecogs.com/eqnedit.php?latex=F(u%2C%20v)%20%3D%20F(u%20%2B%20k_1M%2C%20v%20%2B%20k_2N)#0&quot;,&quot;size&quot;:18,&quot;width&quot;:365.00787401574803,&quot;height&quot;:45.0944881889763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725" y="3312800"/>
            <a:ext cx="5410552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Edge Discontinuity</a:t>
            </a:r>
            <a:endParaRPr/>
          </a:p>
        </p:txBody>
      </p:sp>
      <p:sp>
        <p:nvSpPr>
          <p:cNvPr id="264" name="Google Shape;264;p47"/>
          <p:cNvSpPr txBox="1"/>
          <p:nvPr/>
        </p:nvSpPr>
        <p:spPr>
          <a:xfrm>
            <a:off x="371400" y="1145150"/>
            <a:ext cx="8401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Since</a:t>
            </a:r>
            <a:r>
              <a:rPr lang="en" sz="1800">
                <a:solidFill>
                  <a:schemeClr val="lt2"/>
                </a:solidFill>
              </a:rPr>
              <a:t> DFT mathematically assumes that your image is one "tile" in an infinitely repeating 2D mosaic.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65" name="Google Shape;265;p47"/>
          <p:cNvSpPr txBox="1"/>
          <p:nvPr/>
        </p:nvSpPr>
        <p:spPr>
          <a:xfrm>
            <a:off x="2565400" y="1771650"/>
            <a:ext cx="2527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66" name="Google Shape;266;p47"/>
          <p:cNvSpPr txBox="1"/>
          <p:nvPr/>
        </p:nvSpPr>
        <p:spPr>
          <a:xfrm>
            <a:off x="371400" y="2463950"/>
            <a:ext cx="8401200" cy="24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In real images, the left edge rarely matches the right edge. When the DFT "tiles" the image, a sharp intensity jump (discontinuity) occurs at every boundary.    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This manifests as a bright "</a:t>
            </a:r>
            <a:r>
              <a:rPr b="1" lang="en" sz="1800">
                <a:solidFill>
                  <a:schemeClr val="lt2"/>
                </a:solidFill>
              </a:rPr>
              <a:t>Spectral Cross</a:t>
            </a:r>
            <a:r>
              <a:rPr lang="en" sz="1800">
                <a:solidFill>
                  <a:schemeClr val="lt2"/>
                </a:solidFill>
              </a:rPr>
              <a:t>" (horizontal and vertical lines) through the center of your frequency plot.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We multiply the image by a Window Function w(x,y) that smoothly tapers the pixel values to zero as they approach the edges. This makes the tiled transition seamless.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67" name="Google Shape;267;p47" title="{&quot;red&quot;:173,&quot;green&quot;:173,&quot;blue&quot;:173,&quot;origURL&quot;:&quot;https://www.codecogs.com/eqnedit.php?latex=f(x%2C%20y)%20%3D%20f(x%20%2B%20kM%2C%20y%20%2B%20lN)#0&quot;,&quot;size&quot;:18,&quot;width&quot;:198.99212598425197,&quot;height&quot;:2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600" y="1987550"/>
            <a:ext cx="4114800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273" name="Google Shape;273;p48"/>
          <p:cNvSpPr txBox="1"/>
          <p:nvPr/>
        </p:nvSpPr>
        <p:spPr>
          <a:xfrm>
            <a:off x="387350" y="1234050"/>
            <a:ext cx="7937400" cy="14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2"/>
                </a:solidFill>
              </a:rPr>
              <a:t>Convolution Theorem</a:t>
            </a:r>
            <a:endParaRPr b="1"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800">
                <a:solidFill>
                  <a:schemeClr val="lt2"/>
                </a:solidFill>
              </a:rPr>
            </a:br>
            <a:r>
              <a:rPr lang="en" sz="1800">
                <a:solidFill>
                  <a:schemeClr val="lt2"/>
                </a:solidFill>
              </a:rPr>
              <a:t>Spatial convolution is equivalent to element-wise multiplication in the frequency domain. This is the basis for fast filtering in CV.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74" name="Google Shape;274;p48" title="{&quot;red&quot;:173,&quot;green&quot;:173,&quot;blue&quot;:173,&quot;origURL&quot;:&quot;https://www.codecogs.com/eqnedit.php?latex=%5Cmathcal%7BF%7D%5C%7Bf(x%2C%20y)%20*%20g(x%2C%20y)%5C%7D%20%3D%20F(u%2C%20v)%20%5Ccdot%20G(u%2C%20v)#0&quot;,&quot;size&quot;:18,&quot;width&quot;:591.992125984252,&quot;height&quot;:68.0078740157480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275" y="3002600"/>
            <a:ext cx="6978653" cy="42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9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Wrap-around (Ghosting)</a:t>
            </a:r>
            <a:endParaRPr/>
          </a:p>
        </p:txBody>
      </p:sp>
      <p:sp>
        <p:nvSpPr>
          <p:cNvPr id="280" name="Google Shape;280;p49"/>
          <p:cNvSpPr txBox="1"/>
          <p:nvPr/>
        </p:nvSpPr>
        <p:spPr>
          <a:xfrm>
            <a:off x="371400" y="1145150"/>
            <a:ext cx="84012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Because the DFT assumes the image is periodic, the Convolution Theorem performs Circular Convolution.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281" name="Google Shape;281;p49"/>
          <p:cNvSpPr txBox="1"/>
          <p:nvPr/>
        </p:nvSpPr>
        <p:spPr>
          <a:xfrm>
            <a:off x="371400" y="2716750"/>
            <a:ext cx="8401200" cy="22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If you apply a filter (like a blur) without enough space, pixels that "exit" the right side of the image frame will mathematically "wrap around" and bleed into the left side.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To achieve Linear Convolution (standard filtering), we must pad the image with a border of zeros. This provides a "buffer zone" that prevents the filter from interacting with the periodic copies of the image.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82" name="Google Shape;282;p49" title="{&quot;red&quot;:173,&quot;green&quot;:173,&quot;blue&quot;:173,&quot;origURL&quot;:&quot;https://www.codecogs.com/eqnedit.php?latex=(f%20%5Ccircledast%20g)(x%2C%20y)%20%3D%20%5Csum_%7Bm%2Cn%7D%20f(m%2C%20n)%20g((x-m)_M%2C%20(y-n)_N)#0&quot;,&quot;size&quot;:18,&quot;width&quot;:198.99212598425197,&quot;height&quot;:2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400" y="1999050"/>
            <a:ext cx="5387938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0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Inverse 2D DFT (IFT)</a:t>
            </a:r>
            <a:endParaRPr/>
          </a:p>
        </p:txBody>
      </p:sp>
      <p:sp>
        <p:nvSpPr>
          <p:cNvPr id="288" name="Google Shape;288;p50"/>
          <p:cNvSpPr txBox="1"/>
          <p:nvPr/>
        </p:nvSpPr>
        <p:spPr>
          <a:xfrm>
            <a:off x="387350" y="1576950"/>
            <a:ext cx="79374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To reconstruct the spatial image </a:t>
            </a:r>
            <a:r>
              <a:rPr b="1" lang="en" sz="1800">
                <a:solidFill>
                  <a:schemeClr val="lt2"/>
                </a:solidFill>
              </a:rPr>
              <a:t>f(x, y)</a:t>
            </a:r>
            <a:r>
              <a:rPr lang="en" sz="1800">
                <a:solidFill>
                  <a:schemeClr val="lt2"/>
                </a:solidFill>
              </a:rPr>
              <a:t> from its frequency coefficients </a:t>
            </a:r>
            <a:r>
              <a:rPr b="1" lang="en" sz="1800">
                <a:solidFill>
                  <a:schemeClr val="lt2"/>
                </a:solidFill>
              </a:rPr>
              <a:t>F(u,v)</a:t>
            </a:r>
            <a:r>
              <a:rPr lang="en" sz="1800">
                <a:solidFill>
                  <a:schemeClr val="lt2"/>
                </a:solidFill>
              </a:rPr>
              <a:t>, we sum the weighted basis functions: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89" name="Google Shape;289;p50" title="{&quot;red&quot;:173,&quot;green&quot;:173,&quot;blue&quot;:173,&quot;origURL&quot;:&quot;https://www.codecogs.com/eqnedit.php?latex=f(x%2C%20y)%20%3D%20%5Cfrac%7B1%7D%7BMN%7D%20%5Csum_%7Bu%3D0%7D%5E%7BM-1%7D%20%5Csum_%7Bv%3D0%7D%5E%7BN-1%7D%20F(u%2C%20v)%20e%5E%7Bj2%5Cpi%20%5Cleft(%5Cfrac%7Bux%7D%7BM%7D%20%2B%20%5Cfrac%7Bvy%7D%7BN%7D%5Cright)%7D#0&quot;,&quot;size&quot;:18,&quot;width&quot;:591.992125984252,&quot;height&quot;:68.0078740157480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225" y="2703200"/>
            <a:ext cx="6255651" cy="10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1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Differentiation Property</a:t>
            </a:r>
            <a:endParaRPr/>
          </a:p>
        </p:txBody>
      </p:sp>
      <p:sp>
        <p:nvSpPr>
          <p:cNvPr id="295" name="Google Shape;295;p51"/>
          <p:cNvSpPr txBox="1"/>
          <p:nvPr/>
        </p:nvSpPr>
        <p:spPr>
          <a:xfrm>
            <a:off x="371400" y="1437250"/>
            <a:ext cx="84012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Differentiating in the spatial domain corresponds to multiplying by the frequency variable in the frequency domain.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Spatial Derivative: Finding the rate of change of pixel intensities.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Frequency Equivalent: Multiplying by a ramp function.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96" name="Google Shape;296;p51" title="{&quot;red&quot;:173,&quot;green&quot;:173,&quot;blue&quot;:173,&quot;origURL&quot;:&quot;https://www.codecogs.com/eqnedit.php?latex=%5Cfrac%7B%5Cpartial%20f(x%2C%20y)%7D%7B%5Cpartial%20x%7D%20%5Ciff%20j2%5Cpi%20u%20%5Ccdot%20F(u%2C%20v)#0&quot;,&quot;size&quot;:18,&quot;width&quot;:642,&quot;height&quot;:21.99212598425196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3352850"/>
            <a:ext cx="3619500" cy="76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51" title="{&quot;red&quot;:173,&quot;green&quot;:173,&quot;blue&quot;:173,&quot;origURL&quot;:&quot;https://www.codecogs.com/eqnedit.php?latex=%5Cfrac%7B%5Cpartial%20f(x%2C%20y)%7D%7B%5Cpartial%20y%7D%20%5Ciff%20j2%5Cpi%20v%20%5Ccdot%20F(u%2C%20v)#0&quot;,&quot;size&quot;:18,&quot;width&quot;:395.00787401574803,&quot;height&quot;:45.09448818897638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3352850"/>
            <a:ext cx="4052820" cy="76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>
            <p:ph type="title"/>
          </p:nvPr>
        </p:nvSpPr>
        <p:spPr>
          <a:xfrm>
            <a:off x="426925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cost of DFT</a:t>
            </a:r>
            <a:endParaRPr/>
          </a:p>
        </p:txBody>
      </p:sp>
      <p:sp>
        <p:nvSpPr>
          <p:cNvPr id="303" name="Google Shape;303;p52"/>
          <p:cNvSpPr txBox="1"/>
          <p:nvPr/>
        </p:nvSpPr>
        <p:spPr>
          <a:xfrm>
            <a:off x="371388" y="1564250"/>
            <a:ext cx="8401200" cy="15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The standard DFT is a "brute force" approach.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To find the value of just one frequency point (u,v), the algorithm must sum up the contributions from every single pixel in the original N x N image.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304" name="Google Shape;304;p52" title="{&quot;red&quot;:173,&quot;green&quot;:173,&quot;blue&quot;:173,&quot;origURL&quot;:&quot;https://www.codecogs.com/eqnedit.php?latex=N%5E2%20%5Ctext%7B%20(points)%7D%20%5Ctimes%20N%5E2%20%5Ctext%7B%20(summations%20per%20point)%7D%20%3D%20O(N%5E4)#0&quot;,&quot;size&quot;:18,&quot;width&quot;:627,&quot;height&quot;:45.09448818897638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36" y="3289349"/>
            <a:ext cx="8290121" cy="41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3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Fourier Transform (FFT)</a:t>
            </a:r>
            <a:endParaRPr/>
          </a:p>
        </p:txBody>
      </p:sp>
      <p:sp>
        <p:nvSpPr>
          <p:cNvPr id="310" name="Google Shape;310;p53"/>
          <p:cNvSpPr txBox="1"/>
          <p:nvPr/>
        </p:nvSpPr>
        <p:spPr>
          <a:xfrm>
            <a:off x="371400" y="1297550"/>
            <a:ext cx="8391600" cy="18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The 2D Fast Fourier Transform (FFT) is an optimized algorithm for computing the Discrete Fourier Transform (DFT).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It treats a 2D grid as a series of separable 1D transforms, exploiting the symmetry and periodicity of complex exponentials to eliminate redundant calculations.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311" name="Google Shape;311;p53" title="{&quot;red&quot;:173,&quot;green&quot;:173,&quot;blue&quot;:173,&quot;origURL&quot;:&quot;https://www.codecogs.com/eqnedit.php?latex=%5Ctext%7BDFT%3A%20%7D%20O(N%5E4)%20%5Cquad%20%5Clongrightarrow%20%5Cquad%20%5Ctext%7BFFT%3A%20%7D%20O(N%5E2%20%5Clog%20N)#0&quot;,&quot;size&quot;:18,&quot;width&quot;:318,&quot;height&quot;:51.99212598425197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3543300"/>
            <a:ext cx="5397252" cy="344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387350" y="5110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FFT to 1D FFT</a:t>
            </a:r>
            <a:endParaRPr/>
          </a:p>
        </p:txBody>
      </p:sp>
      <p:pic>
        <p:nvPicPr>
          <p:cNvPr id="317" name="Google Shape;317;p54" title="{&quot;red&quot;:173,&quot;green&quot;:173,&quot;blue&quot;:173,&quot;origURL&quot;:&quot;https://www.codecogs.com/eqnedit.php?latex=F(u%2C%20v)%20%3D%20%5Cunderbrace%7B%5Csum_%7By%3D0%7D%5E%7BN-1%7D%20%5Cleft%5B%20%5Cunderbrace%7B%5Csum_%7Bx%3D0%7D%5E%7BM-1%7D%20f(x%2C%20y)%20e%5E%7B-j2%5Cpi%5Cfrac%7Bux%7D%7BM%7D%7D%7D_%7B%5Ctext%7B1D%20FFT%20of%20Rows%7D%7D%20%5Cright%5D%20e%5E%7B-j2%5Cpi%5Cfrac%7Bvy%7D%7BN%7D%7D%7D_%7B%5Ctext%7B1D%20FFT%20of%20Columns%7D%7D#0&quot;,&quot;size&quot;:18,&quot;width&quot;:660.7559055118111,&quot;height&quot;:223.818897637795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825" y="2275450"/>
            <a:ext cx="6274647" cy="233465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54"/>
          <p:cNvSpPr txBox="1"/>
          <p:nvPr/>
        </p:nvSpPr>
        <p:spPr>
          <a:xfrm>
            <a:off x="469900" y="1498600"/>
            <a:ext cx="72705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Row-Column Decomposition using the  Separability Equation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5"/>
          <p:cNvSpPr txBox="1"/>
          <p:nvPr>
            <p:ph type="title"/>
          </p:nvPr>
        </p:nvSpPr>
        <p:spPr>
          <a:xfrm>
            <a:off x="387350" y="307800"/>
            <a:ext cx="7270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1D FFT</a:t>
            </a:r>
            <a:endParaRPr/>
          </a:p>
        </p:txBody>
      </p:sp>
      <p:sp>
        <p:nvSpPr>
          <p:cNvPr id="324" name="Google Shape;324;p55"/>
          <p:cNvSpPr txBox="1"/>
          <p:nvPr/>
        </p:nvSpPr>
        <p:spPr>
          <a:xfrm>
            <a:off x="387350" y="944000"/>
            <a:ext cx="8413800" cy="23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The 1D FFT is a "Divide and Conquer" algorithm that reduces complexity from O(N^2) to O(N log N).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It splits the data into Even and Odd samples, solves them as smaller sub-problems, and then recombines them. 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This efficiency relies on the Symmetry and Periodicity of the "Twiddle Factor," which allows the algorithm to reuse previous calculations instead of repeating.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325" name="Google Shape;325;p55" title="{&quot;red&quot;:173,&quot;green&quot;:173,&quot;blue&quot;:173,&quot;origURL&quot;:&quot;https://www.codecogs.com/eqnedit.php?latex=X_k%20%3D%20%5Cunderbrace%7BE_k%7D_%7B%5Ctext%7BEven%20indices%7D%7D%20%2B%20%5Cunderbrace%7Be%5E%7B-j%5Cfrac%7B2%5Cpi%7D%7BN%7Dk%7D%7D_%7B%5Ctext%7BTwiddle%20Factor%7D%7D%20%5Ccdot%20%5Cunderbrace%7BO_k%7D_%7B%5Ctext%7BOdd%20indices%7D%7D#0&quot;,&quot;size&quot;:18,&quot;width&quot;:660.7559055118111,&quot;height&quot;:223.818897637795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5950" y="3518000"/>
            <a:ext cx="3887397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55" title="{&quot;red&quot;:173,&quot;green&quot;:173,&quot;blue&quot;:173,&quot;origURL&quot;:&quot;https://www.codecogs.com/eqnedit.php?latex=%5Ctext%7BTotal%20Complexity%7D%20%3D%20%5Cunderbrace%7B2N%7D_%7B%5Ctext%7BRows%20%2B%20Cols%7D%7D%20%5Ctimes%20%5Cunderbrace%7BO(N%20%5Clog%20N)%7D_%7B%5Ctext%7B1D%20FFT%20Cost%7D%7D%20%3D%20O(N%5E2%20%5Clog%20N)#0&quot;,&quot;size&quot;:18,&quot;width&quot;:309.99212598425197,&quot;height&quot;:39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650" y="4268600"/>
            <a:ext cx="6818296" cy="6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5"/>
          <p:cNvSpPr txBox="1"/>
          <p:nvPr/>
        </p:nvSpPr>
        <p:spPr>
          <a:xfrm>
            <a:off x="387350" y="3518000"/>
            <a:ext cx="252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2"/>
                </a:solidFill>
              </a:rPr>
              <a:t>1D FFT Equation </a:t>
            </a:r>
            <a:endParaRPr b="1"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sp>
        <p:nvSpPr>
          <p:cNvPr id="333" name="Google Shape;333;p56"/>
          <p:cNvSpPr txBox="1"/>
          <p:nvPr/>
        </p:nvSpPr>
        <p:spPr>
          <a:xfrm>
            <a:off x="274600" y="4653650"/>
            <a:ext cx="36147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https://www.cs.toronto.edu/~jepson/csc320/notes/linearFilters2.pdf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738" y="1047413"/>
            <a:ext cx="500062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56" title="fourierimage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3888" y="2705896"/>
            <a:ext cx="6016224" cy="199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7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41" name="Google Shape;341;p57" title="soli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8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47" name="Google Shape;347;p58" title="soli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8" title="solid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2025" y="1524700"/>
            <a:ext cx="2342900" cy="2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9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54" name="Google Shape;354;p59" title="ste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0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60" name="Google Shape;360;p60" title="ste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60" title="step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73550" y="4088337"/>
            <a:ext cx="2057400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1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68" name="Google Shape;368;p61" title="step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2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74" name="Google Shape;374;p62" title="step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62" title="stepy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3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81" name="Google Shape;381;p63" title="sin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4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87" name="Google Shape;387;p64" title="sin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4" title="sinx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4113" y="3953200"/>
            <a:ext cx="4295775" cy="69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5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395" name="Google Shape;395;p65" title="sin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5" title="siny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6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02" name="Google Shape;402;p66" title="sin4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7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08" name="Google Shape;408;p67" title="sin4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67" title="sin45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8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15" name="Google Shape;415;p68" title="chessboar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68" title="chessboard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9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22" name="Google Shape;422;p69" title="face.png"/>
          <p:cNvPicPr preferRelativeResize="0"/>
          <p:nvPr/>
        </p:nvPicPr>
        <p:blipFill rotWithShape="1">
          <a:blip r:embed="rId3">
            <a:alphaModFix/>
          </a:blip>
          <a:srcRect b="9168" l="0" r="0" t="9177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69" title="face_spectrum.png"/>
          <p:cNvPicPr preferRelativeResize="0"/>
          <p:nvPr/>
        </p:nvPicPr>
        <p:blipFill rotWithShape="1">
          <a:blip r:embed="rId4">
            <a:alphaModFix/>
          </a:blip>
          <a:srcRect b="9168" l="0" r="0" t="9177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0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29" name="Google Shape;429;p70" title="camerama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70" title="cameraman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1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36" name="Google Shape;436;p71" title="camgaus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71" title="camgauss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2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43" name="Google Shape;443;p72" title="camgauss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72" title="camgauss_spectrum (1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3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Images</a:t>
            </a:r>
            <a:endParaRPr/>
          </a:p>
        </p:txBody>
      </p:sp>
      <p:pic>
        <p:nvPicPr>
          <p:cNvPr id="450" name="Google Shape;450;p73" title="camgauss (2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73" title="camgauss_spectrum (2)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4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Filters</a:t>
            </a:r>
            <a:endParaRPr/>
          </a:p>
        </p:txBody>
      </p:sp>
      <p:pic>
        <p:nvPicPr>
          <p:cNvPr id="457" name="Google Shape;457;p74" title="gauss_small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5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Fourier Transform for Filters</a:t>
            </a:r>
            <a:endParaRPr/>
          </a:p>
        </p:txBody>
      </p:sp>
      <p:pic>
        <p:nvPicPr>
          <p:cNvPr id="463" name="Google Shape;463;p75" title="gauss_small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5" title="gauss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6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Filtering Operation</a:t>
            </a:r>
            <a:endParaRPr/>
          </a:p>
        </p:txBody>
      </p:sp>
      <p:pic>
        <p:nvPicPr>
          <p:cNvPr id="470" name="Google Shape;470;p76" title="camgauss_spectru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725" y="1566775"/>
            <a:ext cx="2300825" cy="23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76" title="gauss_spectru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3050" y="1566775"/>
            <a:ext cx="2300825" cy="230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7"/>
          <p:cNvSpPr txBox="1"/>
          <p:nvPr>
            <p:ph type="title"/>
          </p:nvPr>
        </p:nvSpPr>
        <p:spPr>
          <a:xfrm>
            <a:off x="311700" y="415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Filtering Operation</a:t>
            </a:r>
            <a:endParaRPr/>
          </a:p>
        </p:txBody>
      </p:sp>
      <p:pic>
        <p:nvPicPr>
          <p:cNvPr id="477" name="Google Shape;477;p77" title="filtered_fft_ma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000" y="1493575"/>
            <a:ext cx="24384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77"/>
          <p:cNvSpPr/>
          <p:nvPr/>
        </p:nvSpPr>
        <p:spPr>
          <a:xfrm>
            <a:off x="3614550" y="2085600"/>
            <a:ext cx="2256300" cy="96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Inverse Fourier Transform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p77" title="filtered_img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1000" y="153067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Properties of Fourier Transform</a:t>
            </a:r>
            <a:endParaRPr/>
          </a:p>
        </p:txBody>
      </p:sp>
      <p:sp>
        <p:nvSpPr>
          <p:cNvPr id="485" name="Google Shape;485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Properties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